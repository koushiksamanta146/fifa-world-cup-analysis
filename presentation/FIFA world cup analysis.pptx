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drawingml.chartshapes+xml" PartName="/ppt/drawings/drawing2.xml"/>
  <Override ContentType="application/vnd.openxmlformats-officedocument.drawingml.chartshapes+xml" PartName="/ppt/drawings/drawing1.xml"/>
  <Override ContentType="application/vnd.openxmlformats-officedocument.drawingml.chartshapes+xml" PartName="/ppt/drawings/drawing3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aCV+/IBFDyRBfNEdNL8qtAI2B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2.xlsx"/><Relationship Id="rId4" Type="http://schemas.openxmlformats.org/officeDocument/2006/relationships/chartUserShapes" Target="../drawings/drawing1.xm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Sheet3.xlsx"/><Relationship Id="rId4" Type="http://schemas.openxmlformats.org/officeDocument/2006/relationships/chartUserShapes" Target="../drawings/drawing2.xm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Sheet4.xlsx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Top 5 Scoring Teams: Avg Goal Difference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'ANSWER 2'!$D$5</c:f>
              <c:strCache>
                <c:ptCount val="1"/>
                <c:pt idx="0">
                  <c:v>total_goals_scored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'ANSWER 2'!$B$6:$B$10</c:f>
              <c:strCache>
                <c:ptCount val="5"/>
                <c:pt idx="0">
                  <c:v>Brazil</c:v>
                </c:pt>
                <c:pt idx="1">
                  <c:v>France</c:v>
                </c:pt>
                <c:pt idx="2">
                  <c:v>Spain</c:v>
                </c:pt>
                <c:pt idx="3">
                  <c:v>Germany</c:v>
                </c:pt>
                <c:pt idx="4">
                  <c:v>Mexico</c:v>
                </c:pt>
              </c:strCache>
            </c:strRef>
          </c:cat>
          <c:val>
            <c:numRef>
              <c:f>'ANSWER 2'!$D$6:$D$10</c:f>
              <c:numCache>
                <c:formatCode>General</c:formatCode>
                <c:ptCount val="5"/>
                <c:pt idx="0">
                  <c:v>17</c:v>
                </c:pt>
                <c:pt idx="1">
                  <c:v>16</c:v>
                </c:pt>
                <c:pt idx="2">
                  <c:v>11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F-435B-A85C-A9468716FE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725775"/>
        <c:axId val="37724943"/>
      </c:barChart>
      <c:lineChart>
        <c:grouping val="standard"/>
        <c:varyColors val="0"/>
        <c:ser>
          <c:idx val="1"/>
          <c:order val="1"/>
          <c:tx>
            <c:strRef>
              <c:f>'ANSWER 2'!$H$5</c:f>
              <c:strCache>
                <c:ptCount val="1"/>
                <c:pt idx="0">
                  <c:v>avg_goal_differenece_per_match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'ANSWER 2'!$B$6:$B$10</c:f>
              <c:strCache>
                <c:ptCount val="5"/>
                <c:pt idx="0">
                  <c:v>Brazil</c:v>
                </c:pt>
                <c:pt idx="1">
                  <c:v>France</c:v>
                </c:pt>
                <c:pt idx="2">
                  <c:v>Spain</c:v>
                </c:pt>
                <c:pt idx="3">
                  <c:v>Germany</c:v>
                </c:pt>
                <c:pt idx="4">
                  <c:v>Mexico</c:v>
                </c:pt>
              </c:strCache>
            </c:strRef>
          </c:cat>
          <c:val>
            <c:numRef>
              <c:f>'ANSWER 2'!$H$6:$H$10</c:f>
              <c:numCache>
                <c:formatCode>General</c:formatCode>
                <c:ptCount val="5"/>
                <c:pt idx="0">
                  <c:v>0.88</c:v>
                </c:pt>
                <c:pt idx="1">
                  <c:v>1</c:v>
                </c:pt>
                <c:pt idx="2">
                  <c:v>0.5</c:v>
                </c:pt>
                <c:pt idx="3">
                  <c:v>1.2</c:v>
                </c:pt>
                <c:pt idx="4">
                  <c:v>0.83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CF-435B-A85C-A9468716FE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1830079"/>
        <c:axId val="201828831"/>
      </c:lineChart>
      <c:catAx>
        <c:axId val="37725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724943"/>
        <c:crosses val="autoZero"/>
        <c:auto val="1"/>
        <c:lblAlgn val="ctr"/>
        <c:lblOffset val="100"/>
        <c:noMultiLvlLbl val="0"/>
      </c:catAx>
      <c:valAx>
        <c:axId val="377249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Goal Scored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725775"/>
        <c:crosses val="autoZero"/>
        <c:crossBetween val="between"/>
      </c:valAx>
      <c:valAx>
        <c:axId val="201828831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baseline="0"/>
                  <a:t>Avg Goal Difference / Match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830079"/>
        <c:crosses val="max"/>
        <c:crossBetween val="between"/>
      </c:valAx>
      <c:catAx>
        <c:axId val="20183007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1828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baseline="0"/>
              <a:t>Top Venues by Tight Finishes (Draws &amp; Extra Time)</a:t>
            </a:r>
            <a:endParaRPr lang="en-US" sz="1200"/>
          </a:p>
        </c:rich>
      </c:tx>
      <c:layout>
        <c:manualLayout>
          <c:xMode val="edge"/>
          <c:yMode val="edge"/>
          <c:x val="0.14251377952755906"/>
          <c:y val="5.09259259259259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948490813648293"/>
          <c:y val="0.16041666666666668"/>
          <c:w val="0.66995953630796146"/>
          <c:h val="0.546967410323709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'ANSWER 4'!$G$37</c:f>
              <c:strCache>
                <c:ptCount val="1"/>
                <c:pt idx="0">
                  <c:v>total_tight_finishes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'ANSWER 4'!$A$38:$A$40</c:f>
              <c:strCache>
                <c:ptCount val="3"/>
                <c:pt idx="0">
                  <c:v>Estadio BBVA, Guadalupe</c:v>
                </c:pt>
                <c:pt idx="1">
                  <c:v>SoFi Stadium, Inglewood</c:v>
                </c:pt>
                <c:pt idx="2">
                  <c:v>Lumen Field, Seattle</c:v>
                </c:pt>
              </c:strCache>
            </c:strRef>
          </c:cat>
          <c:val>
            <c:numRef>
              <c:f>'ANSWER 4'!$G$38:$G$40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95-4032-B623-86B1A3A847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73561471"/>
        <c:axId val="2093767839"/>
      </c:barChart>
      <c:catAx>
        <c:axId val="73561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767839"/>
        <c:crosses val="autoZero"/>
        <c:auto val="1"/>
        <c:lblAlgn val="ctr"/>
        <c:lblOffset val="100"/>
        <c:noMultiLvlLbl val="0"/>
      </c:catAx>
      <c:valAx>
        <c:axId val="209376783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Tight Finishes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73561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0" i="0" u="none" strike="noStrike" baseline="0" dirty="0"/>
              <a:t>Win Rate &amp; Points Comparison</a:t>
            </a:r>
            <a:endParaRPr lang="en-US" sz="2000" b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681665386650212E-2"/>
          <c:y val="0.39512060670607457"/>
          <c:w val="0.85662729658792647"/>
          <c:h val="0.546457786526684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'ANSWER 5'!$C$5</c:f>
              <c:strCache>
                <c:ptCount val="1"/>
                <c:pt idx="0">
                  <c:v>win_percentage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'ANSWER 5'!$A$6:$A$7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cat>
          <c:val>
            <c:numRef>
              <c:f>'ANSWER 5'!$C$6:$C$7</c:f>
              <c:numCache>
                <c:formatCode>General</c:formatCode>
                <c:ptCount val="2"/>
                <c:pt idx="0">
                  <c:v>56.73</c:v>
                </c:pt>
                <c:pt idx="1">
                  <c:v>24.04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F2-47F8-B12C-5A8CD95B7225}"/>
            </c:ext>
          </c:extLst>
        </c:ser>
        <c:ser>
          <c:idx val="1"/>
          <c:order val="1"/>
          <c:tx>
            <c:strRef>
              <c:f>'ANSWER 5'!$D$5</c:f>
              <c:strCache>
                <c:ptCount val="1"/>
                <c:pt idx="0">
                  <c:v>draw_percentage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'ANSWER 5'!$A$6:$A$7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cat>
          <c:val>
            <c:numRef>
              <c:f>'ANSWER 5'!$D$6:$D$7</c:f>
              <c:numCache>
                <c:formatCode>General</c:formatCode>
                <c:ptCount val="2"/>
                <c:pt idx="0">
                  <c:v>19.23</c:v>
                </c:pt>
                <c:pt idx="1">
                  <c:v>19.23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F2-47F8-B12C-5A8CD95B7225}"/>
            </c:ext>
          </c:extLst>
        </c:ser>
        <c:ser>
          <c:idx val="2"/>
          <c:order val="2"/>
          <c:tx>
            <c:strRef>
              <c:f>'ANSWER 5'!$E$5</c:f>
              <c:strCache>
                <c:ptCount val="1"/>
                <c:pt idx="0">
                  <c:v>loss_percentage</c:v>
                </c:pt>
              </c:strCache>
            </c:strRef>
          </c:tx>
          <c:spPr>
            <a:solidFill>
              <a:srgbClr val="FF3B3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'ANSWER 5'!$A$6:$A$7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cat>
          <c:val>
            <c:numRef>
              <c:f>'ANSWER 5'!$E$6:$E$7</c:f>
              <c:numCache>
                <c:formatCode>General</c:formatCode>
                <c:ptCount val="2"/>
                <c:pt idx="0">
                  <c:v>24.04</c:v>
                </c:pt>
                <c:pt idx="1">
                  <c:v>56.73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F2-47F8-B12C-5A8CD95B722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48999312"/>
        <c:axId val="1848996816"/>
      </c:barChart>
      <c:catAx>
        <c:axId val="18489993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Team Order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8996816"/>
        <c:crosses val="autoZero"/>
        <c:auto val="1"/>
        <c:lblAlgn val="ctr"/>
        <c:lblOffset val="100"/>
        <c:noMultiLvlLbl val="0"/>
      </c:catAx>
      <c:valAx>
        <c:axId val="1848996816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84899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6442760279965002"/>
          <c:y val="0.35486111111111113"/>
          <c:w val="0.71003368328958882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Group Competitiveness &amp; Goal Production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8876038382526122E-2"/>
          <c:y val="0.19518505588090948"/>
          <c:w val="0.90018768780662983"/>
          <c:h val="0.535952722647257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'ANSWER 8'!$B$1</c:f>
              <c:strCache>
                <c:ptCount val="1"/>
                <c:pt idx="0">
                  <c:v>Goal Difference Spread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'ANSWER 8'!$A$2:$A$13</c:f>
              <c:strCache>
                <c:ptCount val="12"/>
                <c:pt idx="0">
                  <c:v>Group F</c:v>
                </c:pt>
                <c:pt idx="1">
                  <c:v>Group L</c:v>
                </c:pt>
                <c:pt idx="2">
                  <c:v>Group C</c:v>
                </c:pt>
                <c:pt idx="3">
                  <c:v>Group I</c:v>
                </c:pt>
                <c:pt idx="4">
                  <c:v>Group D</c:v>
                </c:pt>
                <c:pt idx="5">
                  <c:v>Group J</c:v>
                </c:pt>
                <c:pt idx="6">
                  <c:v>Group B</c:v>
                </c:pt>
                <c:pt idx="7">
                  <c:v>Group H</c:v>
                </c:pt>
                <c:pt idx="8">
                  <c:v>Group E</c:v>
                </c:pt>
                <c:pt idx="9">
                  <c:v>Group K</c:v>
                </c:pt>
                <c:pt idx="10">
                  <c:v>Group A</c:v>
                </c:pt>
                <c:pt idx="11">
                  <c:v>Group G</c:v>
                </c:pt>
              </c:strCache>
            </c:strRef>
          </c:cat>
          <c:val>
            <c:numRef>
              <c:f>'ANSWER 8'!$B$2:$B$13</c:f>
              <c:numCache>
                <c:formatCode>General</c:formatCode>
                <c:ptCount val="12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  <c:pt idx="7">
                  <c:v>7</c:v>
                </c:pt>
                <c:pt idx="8">
                  <c:v>8</c:v>
                </c:pt>
                <c:pt idx="9">
                  <c:v>8</c:v>
                </c:pt>
                <c:pt idx="10">
                  <c:v>9</c:v>
                </c:pt>
                <c:pt idx="1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78-48FA-8585-EFF47DB933D9}"/>
            </c:ext>
          </c:extLst>
        </c:ser>
        <c:ser>
          <c:idx val="1"/>
          <c:order val="1"/>
          <c:tx>
            <c:strRef>
              <c:f>'ANSWER 8'!$C$1</c:f>
              <c:strCache>
                <c:ptCount val="1"/>
                <c:pt idx="0">
                  <c:v>Cumulative Goals</c:v>
                </c:pt>
              </c:strCache>
            </c:strRef>
          </c:tx>
          <c:spPr>
            <a:solidFill>
              <a:srgbClr val="FF9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'ANSWER 8'!$A$2:$A$13</c:f>
              <c:strCache>
                <c:ptCount val="12"/>
                <c:pt idx="0">
                  <c:v>Group F</c:v>
                </c:pt>
                <c:pt idx="1">
                  <c:v>Group L</c:v>
                </c:pt>
                <c:pt idx="2">
                  <c:v>Group C</c:v>
                </c:pt>
                <c:pt idx="3">
                  <c:v>Group I</c:v>
                </c:pt>
                <c:pt idx="4">
                  <c:v>Group D</c:v>
                </c:pt>
                <c:pt idx="5">
                  <c:v>Group J</c:v>
                </c:pt>
                <c:pt idx="6">
                  <c:v>Group B</c:v>
                </c:pt>
                <c:pt idx="7">
                  <c:v>Group H</c:v>
                </c:pt>
                <c:pt idx="8">
                  <c:v>Group E</c:v>
                </c:pt>
                <c:pt idx="9">
                  <c:v>Group K</c:v>
                </c:pt>
                <c:pt idx="10">
                  <c:v>Group A</c:v>
                </c:pt>
                <c:pt idx="11">
                  <c:v>Group G</c:v>
                </c:pt>
              </c:strCache>
            </c:strRef>
          </c:cat>
          <c:val>
            <c:numRef>
              <c:f>'ANSWER 8'!$C$2:$C$13</c:f>
              <c:numCache>
                <c:formatCode>General</c:formatCode>
                <c:ptCount val="12"/>
                <c:pt idx="0">
                  <c:v>13</c:v>
                </c:pt>
                <c:pt idx="1">
                  <c:v>13</c:v>
                </c:pt>
                <c:pt idx="2">
                  <c:v>16</c:v>
                </c:pt>
                <c:pt idx="3">
                  <c:v>16</c:v>
                </c:pt>
                <c:pt idx="4">
                  <c:v>14</c:v>
                </c:pt>
                <c:pt idx="5">
                  <c:v>14</c:v>
                </c:pt>
                <c:pt idx="6">
                  <c:v>12</c:v>
                </c:pt>
                <c:pt idx="7">
                  <c:v>12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78-48FA-8585-EFF47DB933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19266688"/>
        <c:axId val="519274176"/>
      </c:barChart>
      <c:catAx>
        <c:axId val="51926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9274176"/>
        <c:crosses val="autoZero"/>
        <c:auto val="1"/>
        <c:lblAlgn val="ctr"/>
        <c:lblOffset val="100"/>
        <c:noMultiLvlLbl val="0"/>
      </c:catAx>
      <c:valAx>
        <c:axId val="519274176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baseline="0"/>
                  <a:t>Metric Value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51926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292896486530733"/>
          <c:y val="0.10943779984747397"/>
          <c:w val="0.53709777295802097"/>
          <c:h val="7.66615109236411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0.02708</cdr:x>
      <cdr:y>0.78646</cdr:y>
    </cdr:from>
    <cdr:to>
      <cdr:x>0.99167</cdr:x>
      <cdr:y>0.96354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9BCCAE1-5997-48AA-8EE1-84E2D4C29EDD}"/>
            </a:ext>
          </a:extLst>
        </cdr:cNvPr>
        <cdr:cNvSpPr/>
      </cdr:nvSpPr>
      <cdr:spPr>
        <a:xfrm xmlns:a="http://schemas.openxmlformats.org/drawingml/2006/main">
          <a:off x="123825" y="2157413"/>
          <a:ext cx="4410075" cy="485775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b="1">
              <a:solidFill>
                <a:schemeClr val="accent1"/>
              </a:solidFill>
            </a:rPr>
            <a:t>Note:</a:t>
          </a:r>
          <a:r>
            <a:rPr lang="en-US">
              <a:solidFill>
                <a:schemeClr val="accent1"/>
              </a:solidFill>
            </a:rPr>
            <a:t> </a:t>
          </a:r>
          <a:r>
            <a:rPr lang="en-US" i="1">
              <a:solidFill>
                <a:schemeClr val="accent1"/>
              </a:solidFill>
            </a:rPr>
            <a:t>Venues recording the highest concentration of full-time draws and extra-time periods.</a:t>
          </a:r>
          <a:endParaRPr lang="en-US">
            <a:solidFill>
              <a:schemeClr val="accent1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0.19375</cdr:x>
      <cdr:y>0.13021</cdr:y>
    </cdr:from>
    <cdr:to>
      <cdr:x>0.7834</cdr:x>
      <cdr:y>0.22049</cdr:y>
    </cdr:to>
    <cdr:sp macro="" textlink="">
      <cdr:nvSpPr>
        <cdr:cNvPr id="2" name="Rectangle: Rounded Corners 1">
          <a:extLst xmlns:a="http://schemas.openxmlformats.org/drawingml/2006/main">
            <a:ext uri="{FF2B5EF4-FFF2-40B4-BE49-F238E27FC236}">
              <a16:creationId xmlns:a16="http://schemas.microsoft.com/office/drawing/2014/main" id="{2961F5AC-5B35-4101-82A6-0FD589F5427D}"/>
            </a:ext>
          </a:extLst>
        </cdr:cNvPr>
        <cdr:cNvSpPr/>
      </cdr:nvSpPr>
      <cdr:spPr>
        <a:xfrm xmlns:a="http://schemas.openxmlformats.org/drawingml/2006/main">
          <a:off x="885825" y="357187"/>
          <a:ext cx="2695868" cy="247651"/>
        </a:xfrm>
        <a:prstGeom xmlns:a="http://schemas.openxmlformats.org/drawingml/2006/main" prst="round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en-US" sz="1400" b="1" dirty="0"/>
            <a:t>Team Order 1</a:t>
          </a:r>
          <a:r>
            <a:rPr lang="en-US" sz="1400" b="1" baseline="0" dirty="0"/>
            <a:t> Avg points per match = 1.89</a:t>
          </a:r>
          <a:r>
            <a:rPr lang="en-US" sz="1400" dirty="0"/>
            <a:t> </a:t>
          </a:r>
        </a:p>
      </cdr:txBody>
    </cdr:sp>
  </cdr:relSizeAnchor>
  <cdr:relSizeAnchor xmlns:cdr="http://schemas.openxmlformats.org/drawingml/2006/chartDrawing">
    <cdr:from>
      <cdr:x>0.19167</cdr:x>
      <cdr:y>0.23438</cdr:y>
    </cdr:from>
    <cdr:to>
      <cdr:x>0.78333</cdr:x>
      <cdr:y>0.3316</cdr:y>
    </cdr:to>
    <cdr:sp macro="" textlink="">
      <cdr:nvSpPr>
        <cdr:cNvPr id="3" name="Rectangle: Rounded Corners 2">
          <a:extLst xmlns:a="http://schemas.openxmlformats.org/drawingml/2006/main">
            <a:ext uri="{FF2B5EF4-FFF2-40B4-BE49-F238E27FC236}">
              <a16:creationId xmlns:a16="http://schemas.microsoft.com/office/drawing/2014/main" id="{BA45AB6B-E952-4AEC-9A0F-3F2029389A8A}"/>
            </a:ext>
          </a:extLst>
        </cdr:cNvPr>
        <cdr:cNvSpPr/>
      </cdr:nvSpPr>
      <cdr:spPr>
        <a:xfrm xmlns:a="http://schemas.openxmlformats.org/drawingml/2006/main">
          <a:off x="876301" y="642938"/>
          <a:ext cx="2705100" cy="266700"/>
        </a:xfrm>
        <a:prstGeom xmlns:a="http://schemas.openxmlformats.org/drawingml/2006/main" prst="round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400" b="1" dirty="0">
              <a:solidFill>
                <a:schemeClr val="lt1"/>
              </a:solidFill>
              <a:effectLst/>
            </a:rPr>
            <a:t>Team Order 2</a:t>
          </a:r>
          <a:r>
            <a:rPr lang="en-US" sz="1400" b="1" baseline="0" dirty="0">
              <a:solidFill>
                <a:schemeClr val="lt1"/>
              </a:solidFill>
              <a:effectLst/>
            </a:rPr>
            <a:t> Avg points per match = 0.91</a:t>
          </a:r>
          <a:r>
            <a:rPr lang="en-US" sz="1400" dirty="0">
              <a:solidFill>
                <a:schemeClr val="lt1"/>
              </a:solidFill>
              <a:effectLst/>
            </a:rPr>
            <a:t> </a:t>
          </a:r>
          <a:endParaRPr lang="en-US" sz="1400" dirty="0">
            <a:effectLst/>
          </a:endParaRPr>
        </a:p>
        <a:p xmlns:a="http://schemas.openxmlformats.org/drawingml/2006/main">
          <a:endParaRPr lang="en-US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0.87734</cdr:y>
    </cdr:from>
    <cdr:to>
      <cdr:x>1</cdr:x>
      <cdr:y>0.98978</cdr:y>
    </cdr:to>
    <cdr:sp macro="" textlink="">
      <cdr:nvSpPr>
        <cdr:cNvPr id="2" name="Rectangle: Rounded Corners 1">
          <a:extLst xmlns:a="http://schemas.openxmlformats.org/drawingml/2006/main">
            <a:ext uri="{FF2B5EF4-FFF2-40B4-BE49-F238E27FC236}">
              <a16:creationId xmlns:a16="http://schemas.microsoft.com/office/drawing/2014/main" id="{7337C1CB-E2A6-4C47-8C86-0E2B13F7E018}"/>
            </a:ext>
          </a:extLst>
        </cdr:cNvPr>
        <cdr:cNvSpPr/>
      </cdr:nvSpPr>
      <cdr:spPr>
        <a:xfrm xmlns:a="http://schemas.openxmlformats.org/drawingml/2006/main">
          <a:off x="0" y="2452687"/>
          <a:ext cx="4733925" cy="314325"/>
        </a:xfrm>
        <a:prstGeom xmlns:a="http://schemas.openxmlformats.org/drawingml/2006/main" prst="round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pPr algn="l"/>
          <a:r>
            <a:rPr lang="en-US" sz="900" b="1"/>
            <a:t>Lower GD Spread = Higher Competitiveness | Higher Cumulative Goals = Higher Goal Production</a:t>
          </a:r>
        </a:p>
      </cdr:txBody>
    </cdr:sp>
  </cdr:relSizeAnchor>
</c:userShape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40080" y="777240"/>
            <a:ext cx="109728" cy="5120640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60120" y="1051560"/>
            <a:ext cx="10332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FIFA World Cup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6A634"/>
                </a:solidFill>
                <a:latin typeface="Calibri"/>
                <a:ea typeface="Calibri"/>
                <a:cs typeface="Calibri"/>
                <a:sym typeface="Calibri"/>
              </a:rPr>
              <a:t>Performance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DCE4EE"/>
                </a:solidFill>
                <a:latin typeface="Calibri"/>
                <a:ea typeface="Calibri"/>
                <a:cs typeface="Calibri"/>
                <a:sym typeface="Calibri"/>
              </a:rPr>
              <a:t>A data-driven view of scoring, defence, competitiveness and high-pressure matches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87552" y="4709160"/>
            <a:ext cx="1033272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Koushik Samanta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8D2DE"/>
                </a:solidFill>
                <a:latin typeface="Calibri"/>
                <a:ea typeface="Calibri"/>
                <a:cs typeface="Calibri"/>
                <a:sym typeface="Calibri"/>
              </a:rPr>
              <a:t>Data Analytics Project  |  MySQL + Excel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1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7571" y="3063240"/>
            <a:ext cx="1778258" cy="274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Project Objective &amp; Analytical Approach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640080" y="1325880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Matches analyzed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40080" y="1325880"/>
            <a:ext cx="64008" cy="1325880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434840" y="1325880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251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Goals scored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434840" y="1325880"/>
            <a:ext cx="64008" cy="1325880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229600" y="1325880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Knockout matches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229600" y="1325880"/>
            <a:ext cx="64008" cy="1325880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14400" y="30632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6A63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600200" y="30632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Create insight questions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3703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6A63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600200" y="3703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Build and run SQL queries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914400" y="4343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6A63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600200" y="43434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Export result tables to Excel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914400" y="4983479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6A63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600200" y="4983479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Visualize findings and build the story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594360" y="571500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r>
              <a:rPr lang="en-US" sz="14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The project moves from SQL-based evidence to decision-ready visual storytelling.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Tournament Overview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640080" y="123444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Total Matches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640080" y="1234440"/>
            <a:ext cx="64008" cy="1234440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383280" y="123444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251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Total Goals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3383280" y="1234440"/>
            <a:ext cx="64008" cy="1234440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126480" y="123444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2.41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Goals / Match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6126480" y="1234440"/>
            <a:ext cx="64008" cy="1234440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869680" y="123444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Knockout Matches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8869680" y="1234440"/>
            <a:ext cx="64008" cy="1234440"/>
          </a:xfrm>
          <a:prstGeom prst="rect">
            <a:avLst/>
          </a:prstGeom>
          <a:solidFill>
            <a:srgbClr val="BE46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960120" y="28346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Average Goals per Match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2023854" y="3273552"/>
            <a:ext cx="82907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Group Stage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2926080" y="3346704"/>
            <a:ext cx="24688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926080" y="3346704"/>
            <a:ext cx="2080913" cy="201168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413248" y="3273552"/>
            <a:ext cx="4154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2.36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858744" y="3749039"/>
            <a:ext cx="99418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Knockout Stage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2926080" y="3822191"/>
            <a:ext cx="24688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926080" y="3822191"/>
            <a:ext cx="2230809" cy="201168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413248" y="3749039"/>
            <a:ext cx="4154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2.53</a:t>
            </a:r>
            <a:endParaRPr b="1" sz="900">
              <a:solidFill>
                <a:srgbClr val="2830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400800" y="2834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Total Goals by Stage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7464534" y="3273552"/>
            <a:ext cx="82907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Group Stage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8366760" y="3346704"/>
            <a:ext cx="228600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8366760" y="3346704"/>
            <a:ext cx="2045368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0671048" y="3273552"/>
            <a:ext cx="38183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 b="1" sz="900">
              <a:solidFill>
                <a:srgbClr val="2830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7333088" y="3749039"/>
            <a:ext cx="9605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Knockout</a:t>
            </a: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 Stage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8366760" y="3822191"/>
            <a:ext cx="228600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366760" y="3822191"/>
            <a:ext cx="974557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0671048" y="3749039"/>
            <a:ext cx="31611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1" sz="900">
              <a:solidFill>
                <a:srgbClr val="2830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594360" y="5441347"/>
            <a:ext cx="10972800" cy="895445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 : Scoring intensity increased in the knockout stage, with average goals rising from 2.36 in the group stage to 2.53 per match.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Top Scoring Teams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Cumulative goals and average goal-difference performance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594360" y="553212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Insight: While Brazil led total scoring with 17 goals, Germany demonstrated the highest match dominance with an average goal difference of +1.20 per match.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4</a:t>
            </a:r>
            <a:endParaRPr/>
          </a:p>
        </p:txBody>
      </p:sp>
      <p:graphicFrame>
        <p:nvGraphicFramePr>
          <p:cNvPr id="155" name="Google Shape;155;p4"/>
          <p:cNvGraphicFramePr/>
          <p:nvPr/>
        </p:nvGraphicFramePr>
        <p:xfrm>
          <a:off x="2176686" y="1609344"/>
          <a:ext cx="7437961" cy="3460196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Clean Sheet Leaders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Defensive consistency measured by clean-sheet percentage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640080" y="109728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Clean Sheet Percentage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640080" y="1536192"/>
            <a:ext cx="1892807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Cabo Verde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2606039" y="1609344"/>
            <a:ext cx="4023359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2606039" y="1609344"/>
            <a:ext cx="3576498" cy="201168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6647687" y="1536192"/>
            <a:ext cx="457200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67%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640080" y="1987677"/>
            <a:ext cx="1892807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Haiti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2606039" y="2060829"/>
            <a:ext cx="4023359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606039" y="2060829"/>
            <a:ext cx="3576498" cy="201168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647687" y="1987677"/>
            <a:ext cx="457200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67%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640080" y="2439162"/>
            <a:ext cx="1892807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Iraq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2606039" y="2512314"/>
            <a:ext cx="4023359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2606039" y="2512314"/>
            <a:ext cx="3576498" cy="201168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647687" y="2439162"/>
            <a:ext cx="457200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67%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640080" y="2890647"/>
            <a:ext cx="1892807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Bosnia and Herzegovina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2606039" y="2963799"/>
            <a:ext cx="4023359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606039" y="2963799"/>
            <a:ext cx="3576498" cy="201168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6647687" y="2890647"/>
            <a:ext cx="457200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67%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640080" y="3342132"/>
            <a:ext cx="1892807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Portugal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2606039" y="3415284"/>
            <a:ext cx="4023359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2606039" y="3415284"/>
            <a:ext cx="3218687" cy="201168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6647687" y="3342132"/>
            <a:ext cx="457200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640080" y="3793616"/>
            <a:ext cx="1892807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2606039" y="3866769"/>
            <a:ext cx="4023359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2606039" y="3866769"/>
            <a:ext cx="2682240" cy="201168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6647687" y="3793616"/>
            <a:ext cx="457200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640080" y="4245102"/>
            <a:ext cx="1892807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Senegal</a:t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2606039" y="4318254"/>
            <a:ext cx="4023359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606039" y="4318254"/>
            <a:ext cx="2682240" cy="201168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6647687" y="4245102"/>
            <a:ext cx="457200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640080" y="4696587"/>
            <a:ext cx="1892807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Morocco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2606039" y="4769739"/>
            <a:ext cx="4023359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606039" y="4769739"/>
            <a:ext cx="2682240" cy="201168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647687" y="4696587"/>
            <a:ext cx="457200" cy="45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7635240" y="1417320"/>
            <a:ext cx="3474720" cy="13258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66.67%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Best clean-sheet rate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7635240" y="1417320"/>
            <a:ext cx="64008" cy="1325880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7726679" y="2971800"/>
            <a:ext cx="3291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Leaders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• Cabo Verde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• Haiti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• Iraq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• Bosnia and Herzegovina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594360" y="553212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r>
              <a:rPr lang="en-US" sz="14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Bosnia and Herzegovina, Cabo Verde, Haiti and Iraq posted the highest clean-sheet rate at 66.67%, showing strong defensive consistency.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5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Venue Performance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Average goals per match across the highest-scoring venues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548640" y="1051561"/>
            <a:ext cx="36643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Average Goals per Match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-486779" y="1490472"/>
            <a:ext cx="18928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Mercedes-Benz Stadium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1479181" y="1563624"/>
            <a:ext cx="42976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479181" y="1563624"/>
            <a:ext cx="3975354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5795149" y="1490472"/>
            <a:ext cx="4572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3.33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-486779" y="1964816"/>
            <a:ext cx="18928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SoFi Stadium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1479181" y="2037968"/>
            <a:ext cx="42976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479181" y="2037968"/>
            <a:ext cx="3581400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5795149" y="1964816"/>
            <a:ext cx="4572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3.00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-486779" y="2439162"/>
            <a:ext cx="18928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Estadio BBVA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1479181" y="2512314"/>
            <a:ext cx="42976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479181" y="2512314"/>
            <a:ext cx="3235197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5795149" y="2439162"/>
            <a:ext cx="4572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2.71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-486779" y="2913507"/>
            <a:ext cx="18928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Levi's Stadium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1479181" y="2986659"/>
            <a:ext cx="42976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479181" y="2986659"/>
            <a:ext cx="3187445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5795149" y="2913507"/>
            <a:ext cx="4572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2.67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-486779" y="3387852"/>
            <a:ext cx="18928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Arrowhead Stadium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1479181" y="3461004"/>
            <a:ext cx="42976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479181" y="3461004"/>
            <a:ext cx="3187445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5795149" y="3387852"/>
            <a:ext cx="4572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2.67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-486779" y="3862197"/>
            <a:ext cx="18928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Lumen Field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1479181" y="3935349"/>
            <a:ext cx="42976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1479181" y="3935349"/>
            <a:ext cx="2984500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795149" y="3862197"/>
            <a:ext cx="4572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2.50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-486779" y="4336542"/>
            <a:ext cx="18928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Estadio Azteca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1479181" y="4409694"/>
            <a:ext cx="42976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479181" y="4409694"/>
            <a:ext cx="2900934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5795149" y="4336542"/>
            <a:ext cx="4572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2.43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-486779" y="4810887"/>
            <a:ext cx="18928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Estadio Akron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1479181" y="4884039"/>
            <a:ext cx="429768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479181" y="4884039"/>
            <a:ext cx="2733801" cy="201168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5795149" y="4810887"/>
            <a:ext cx="4572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2.29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463681" y="828088"/>
            <a:ext cx="1702393" cy="548641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3.33 goals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Highest average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4463681" y="828088"/>
            <a:ext cx="45719" cy="548641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1586200" y="5180127"/>
            <a:ext cx="4083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Top venue - </a:t>
            </a:r>
            <a:r>
              <a:rPr b="1" lang="en-US" sz="16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Mercedes-Benz Stadium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3.33 goals per match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35967" y="579901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Insight: High scoring and tight competition occurred at completely different venues: while Mercedes-Benz Stadium led offensive productivity (3.33 goals/match), Estadio BBVA hosted the most fiercely contested games with 4 tight finishes (draws &amp; extra time).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6</a:t>
            </a:r>
            <a:endParaRPr/>
          </a:p>
        </p:txBody>
      </p:sp>
      <p:graphicFrame>
        <p:nvGraphicFramePr>
          <p:cNvPr id="246" name="Google Shape;246;p6"/>
          <p:cNvGraphicFramePr/>
          <p:nvPr/>
        </p:nvGraphicFramePr>
        <p:xfrm>
          <a:off x="6494753" y="1490472"/>
          <a:ext cx="5696941" cy="346959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47" name="Google Shape;247;p6"/>
          <p:cNvSpPr txBox="1"/>
          <p:nvPr/>
        </p:nvSpPr>
        <p:spPr>
          <a:xfrm>
            <a:off x="6840840" y="1027415"/>
            <a:ext cx="36643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Top Tight Finishes Venues</a:t>
            </a:r>
            <a:endParaRPr b="1" sz="1400">
              <a:solidFill>
                <a:srgbClr val="0F2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Team Order Impact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Performance difference between team_order = 1 and team_order = 2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914400" y="1234440"/>
            <a:ext cx="3972261" cy="863301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56.73%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Team Order 1 — Win Rate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914400" y="1234440"/>
            <a:ext cx="54522" cy="863301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583680" y="1234440"/>
            <a:ext cx="3972261" cy="863301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24.04%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Team Order 2 — Win Rate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6583680" y="1234440"/>
            <a:ext cx="54522" cy="863301"/>
          </a:xfrm>
          <a:prstGeom prst="rect">
            <a:avLst/>
          </a:prstGeom>
          <a:solidFill>
            <a:srgbClr val="BE46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94360" y="553212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r>
              <a:rPr lang="en-US" sz="10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Team Order 1 won 56.73% of matches versus 24.04% for Order 2 and earned 1.89 points per match versus 0.91. This is a strong positional pattern, but the source definition of team_order should be documented.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7</a:t>
            </a:r>
            <a:endParaRPr/>
          </a:p>
        </p:txBody>
      </p:sp>
      <p:graphicFrame>
        <p:nvGraphicFramePr>
          <p:cNvPr id="260" name="Google Shape;260;p7"/>
          <p:cNvGraphicFramePr/>
          <p:nvPr/>
        </p:nvGraphicFramePr>
        <p:xfrm>
          <a:off x="2985247" y="2344629"/>
          <a:ext cx="6118411" cy="3388659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>
            <a:off x="305" y="274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Extra Time &amp; Penalty Shootout Frequency</a:t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731520" y="1234440"/>
            <a:ext cx="3200400" cy="1371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Knockout Matches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731520" y="1234440"/>
            <a:ext cx="64008" cy="1371600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480560" y="1234440"/>
            <a:ext cx="3200400" cy="1371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9 | 28.13%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Went to Extra Time</a:t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4480560" y="1234440"/>
            <a:ext cx="64008" cy="1371600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8229600" y="1234440"/>
            <a:ext cx="3200400" cy="1371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4 | 44.44% of 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Penalty Shootouts</a:t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8229600" y="1234440"/>
            <a:ext cx="64008" cy="1371600"/>
          </a:xfrm>
          <a:prstGeom prst="rect">
            <a:avLst/>
          </a:prstGeom>
          <a:solidFill>
            <a:srgbClr val="BE46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1463040" y="3154680"/>
            <a:ext cx="8046720" cy="384048"/>
          </a:xfrm>
          <a:prstGeom prst="roundRect">
            <a:avLst>
              <a:gd fmla="val 16667" name="adj"/>
            </a:avLst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4685475" y="3209006"/>
            <a:ext cx="16018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Knockout Matches: 32</a:t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951420" y="3776472"/>
            <a:ext cx="3219226" cy="384048"/>
          </a:xfrm>
          <a:prstGeom prst="roundRect">
            <a:avLst>
              <a:gd fmla="val 16667" name="adj"/>
            </a:avLst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4058995" y="3857691"/>
            <a:ext cx="2743205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Extra-Time Matches: 9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4714539" y="4398264"/>
            <a:ext cx="1430767" cy="384048"/>
          </a:xfrm>
          <a:prstGeom prst="roundRect">
            <a:avLst>
              <a:gd fmla="val 16667" name="adj"/>
            </a:avLst>
          </a:prstGeom>
          <a:solidFill>
            <a:srgbClr val="BE46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94360" y="562356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r>
              <a:rPr lang="en-US" sz="14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Most knockout matches were settled in 90 minutes, but once a match reached extra time, 44.44% progressed to a penalty shootout.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8</a:t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4862457" y="4398802"/>
            <a:ext cx="121920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Penalty Shootouts: 4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Penalty Clutch Performance</a:t>
            </a:r>
            <a:endParaRPr/>
          </a:p>
        </p:txBody>
      </p:sp>
      <p:sp>
        <p:nvSpPr>
          <p:cNvPr id="287" name="Google Shape;287;p9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Margin of victory in penalty shootouts</a:t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822960" y="123444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Shootout Matches</a:t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822960" y="1234440"/>
            <a:ext cx="64008" cy="1234440"/>
          </a:xfrm>
          <a:prstGeom prst="rect">
            <a:avLst/>
          </a:prstGeom>
          <a:solidFill>
            <a:srgbClr val="BE46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3566160" y="123444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1 goal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Minimum Margin</a:t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3566160" y="1234440"/>
            <a:ext cx="64008" cy="1234440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309360" y="123444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1.25 goals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Average Margin</a:t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309360" y="1234440"/>
            <a:ext cx="64008" cy="1234440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9052560" y="123444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2 goals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Maximum Margin</a:t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9052560" y="1234440"/>
            <a:ext cx="64008" cy="1234440"/>
          </a:xfrm>
          <a:prstGeom prst="rect">
            <a:avLst/>
          </a:prstGeom>
          <a:solidFill>
            <a:srgbClr val="3084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1188720" y="306324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Shootout Margin (Goals)</a:t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1188720" y="3502152"/>
            <a:ext cx="1892807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3154680" y="3575304"/>
            <a:ext cx="713232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3154680" y="3575304"/>
            <a:ext cx="3101008" cy="201168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10305288" y="3502152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1188720" y="3977639"/>
            <a:ext cx="1892807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3154680" y="4050791"/>
            <a:ext cx="713232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154680" y="4050791"/>
            <a:ext cx="3876260" cy="201168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0305288" y="3977639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1.25</a:t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1188720" y="4453128"/>
            <a:ext cx="1892807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Maximum</a:t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3154680" y="4526280"/>
            <a:ext cx="7132320" cy="201168"/>
          </a:xfrm>
          <a:prstGeom prst="rect">
            <a:avLst/>
          </a:prstGeom>
          <a:solidFill>
            <a:srgbClr val="E8EB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3154680" y="4526280"/>
            <a:ext cx="6202017" cy="201168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0305288" y="4453128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2.00</a:t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594360" y="553212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r>
              <a:rPr lang="en-US" sz="10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Across four shootouts, the average victory margin was only 1.25 goals, indicating that penalty-shootout outcomes were generally decided by narrow margins.</a:t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9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Group Competitiveness &amp; Goal Production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Tightness of goal difference versus total goals scored</a:t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594360" y="1143000"/>
            <a:ext cx="7543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Group comparison</a:t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8458200" y="1417320"/>
            <a:ext cx="274320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4 goals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Tightest spread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8458200" y="1417320"/>
            <a:ext cx="64008" cy="1234440"/>
          </a:xfrm>
          <a:prstGeom prst="rect">
            <a:avLst/>
          </a:prstGeom>
          <a:solidFill>
            <a:srgbClr val="2366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8458200" y="2880360"/>
            <a:ext cx="2743200" cy="123444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Highest goal output</a:t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8458200" y="2880360"/>
            <a:ext cx="64008" cy="1234440"/>
          </a:xfrm>
          <a:prstGeom prst="rect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8366760" y="44805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Most competitive: F &amp; L</a:t>
            </a:r>
            <a:br>
              <a:rPr b="1" lang="en-US" sz="12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Highest-scoring: C &amp; I</a:t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594360" y="571500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Insight : The most competitive groups were not necessarily the highest-scoring groups, highlighting that competitiveness and goal production are distinct dimensions of group performance.</a:t>
            </a: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400">
              <a:solidFill>
                <a:srgbClr val="2830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10</a:t>
            </a:r>
            <a:endParaRPr/>
          </a:p>
        </p:txBody>
      </p:sp>
      <p:graphicFrame>
        <p:nvGraphicFramePr>
          <p:cNvPr id="326" name="Google Shape;326;p10"/>
          <p:cNvGraphicFramePr/>
          <p:nvPr/>
        </p:nvGraphicFramePr>
        <p:xfrm>
          <a:off x="502920" y="1724882"/>
          <a:ext cx="7635240" cy="3761518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521207" y="78638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The five strongest signals from the analysis</a:t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5" name="Google Shape;335;p11"/>
          <p:cNvSpPr txBox="1"/>
          <p:nvPr/>
        </p:nvSpPr>
        <p:spPr>
          <a:xfrm>
            <a:off x="1325880" y="121615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Attack</a:t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2788920" y="1216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Knockout scoring intensity was slightly higher than group-stage scoring (2.53 vs 2.36 goals/match).</a:t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731520" y="2075688"/>
            <a:ext cx="411480" cy="411480"/>
          </a:xfrm>
          <a:prstGeom prst="ellipse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8" name="Google Shape;338;p11"/>
          <p:cNvSpPr txBox="1"/>
          <p:nvPr/>
        </p:nvSpPr>
        <p:spPr>
          <a:xfrm>
            <a:off x="1325880" y="20574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Top performers</a:t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2788920" y="205740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Brazil led scoring with 17 goals; France paired 16 goals with the best +8 goal difference among the top five.</a:t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731520" y="2916936"/>
            <a:ext cx="411480" cy="411480"/>
          </a:xfrm>
          <a:prstGeom prst="ellipse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1325880" y="289864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Defence</a:t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2788920" y="289864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Four teams achieved the best clean-sheet rate at 66.67%, highlighting defensive consistency.</a:t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731520" y="3758184"/>
            <a:ext cx="411480" cy="411480"/>
          </a:xfrm>
          <a:prstGeom prst="ellipse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4" name="Google Shape;344;p11"/>
          <p:cNvSpPr txBox="1"/>
          <p:nvPr/>
        </p:nvSpPr>
        <p:spPr>
          <a:xfrm>
            <a:off x="1325880" y="3739896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High pressure</a:t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2788920" y="37398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28.13% of knockout matches went to extra time; 44.44% of those reached shootouts.</a:t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E6A6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7" name="Google Shape;347;p11"/>
          <p:cNvSpPr txBox="1"/>
          <p:nvPr/>
        </p:nvSpPr>
        <p:spPr>
          <a:xfrm>
            <a:off x="1325880" y="458114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Competitive balance</a:t>
            </a:r>
            <a:endParaRPr/>
          </a:p>
        </p:txBody>
      </p:sp>
      <p:sp>
        <p:nvSpPr>
          <p:cNvPr id="348" name="Google Shape;348;p11"/>
          <p:cNvSpPr txBox="1"/>
          <p:nvPr/>
        </p:nvSpPr>
        <p:spPr>
          <a:xfrm>
            <a:off x="2788920" y="4581144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F and L were the tightest groups, while C and I produced the most goals.</a:t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594360" y="571500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r>
              <a:rPr lang="en-US" sz="105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Tournament performance is multi-dimensional: attack, defence, match pressure and competitive balance each reveal a different part of the story.</a:t>
            </a:r>
            <a:endParaRPr/>
          </a:p>
        </p:txBody>
      </p:sp>
      <p:sp>
        <p:nvSpPr>
          <p:cNvPr id="350" name="Google Shape;350;p11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11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Methodology, Tools &amp; Final Takeaway</a:t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731520" y="1371600"/>
            <a:ext cx="2240280" cy="1097280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Query &amp; aggregate with AI</a:t>
            </a:r>
            <a:endParaRPr sz="950">
              <a:solidFill>
                <a:srgbClr val="646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3520439" y="1371600"/>
            <a:ext cx="2240280" cy="1097280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Excel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Validate &amp; visualize with AI</a:t>
            </a:r>
            <a:endParaRPr sz="950">
              <a:solidFill>
                <a:srgbClr val="646E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309359" y="1371600"/>
            <a:ext cx="2240280" cy="1097280"/>
          </a:xfrm>
          <a:prstGeom prst="roundRect">
            <a:avLst>
              <a:gd fmla="val 16667" name="adj"/>
            </a:avLst>
          </a:prstGeom>
          <a:solidFill>
            <a:srgbClr val="E2EEF9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Tell the story</a:t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9098280" y="1371600"/>
            <a:ext cx="2240280" cy="1097280"/>
          </a:xfrm>
          <a:prstGeom prst="roundRect">
            <a:avLst>
              <a:gd fmla="val 16667" name="adj"/>
            </a:avLst>
          </a:prstGeom>
          <a:solidFill>
            <a:srgbClr val="EBF2EB"/>
          </a:solidFill>
          <a:ln cap="flat" cmpd="sng" w="9525">
            <a:solidFill>
              <a:srgbClr val="CDD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Voice-over &amp; publish</a:t>
            </a:r>
            <a:endParaRPr/>
          </a:p>
        </p:txBody>
      </p:sp>
      <p:sp>
        <p:nvSpPr>
          <p:cNvPr id="361" name="Google Shape;361;p12"/>
          <p:cNvSpPr txBox="1"/>
          <p:nvPr/>
        </p:nvSpPr>
        <p:spPr>
          <a:xfrm>
            <a:off x="914400" y="3063240"/>
            <a:ext cx="817031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2747"/>
                </a:solidFill>
                <a:latin typeface="Calibri"/>
                <a:ea typeface="Calibri"/>
                <a:cs typeface="Calibri"/>
                <a:sym typeface="Calibri"/>
              </a:rPr>
              <a:t>Final Takeaway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FIFA performance is multi-dimensional: scoring efficiency, defensive stability, positional context, </a:t>
            </a:r>
            <a:endParaRPr sz="1600">
              <a:solidFill>
                <a:srgbClr val="283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3038"/>
                </a:solidFill>
                <a:latin typeface="Calibri"/>
                <a:ea typeface="Calibri"/>
                <a:cs typeface="Calibri"/>
                <a:sym typeface="Calibri"/>
              </a:rPr>
              <a:t>and resilience in high-pressure matches all contribute to competitive outcomes.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Tools: MySQL • Excel • PowerPoint  with AI • Google Slides</a:t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FIFA World Cup Performance Analysis  |  12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Koushik Samanta CSC</dc:creator>
</cp:coreProperties>
</file>